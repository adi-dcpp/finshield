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121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0" y="0"/>
            <a:ext cx="6949440" cy="6858000"/>
          </a:xfrm>
          <a:prstGeom prst="rect">
            <a:avLst/>
          </a:prstGeom>
          <a:solidFill>
            <a:srgbClr val="0B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31520" y="731520"/>
            <a:ext cx="4023360" cy="0"/>
          </a:xfrm>
          <a:prstGeom prst="line">
            <a:avLst/>
          </a:prstGeom>
          <a:ln w="1016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31520" y="1554480"/>
            <a:ext cx="4023360" cy="0"/>
          </a:xfrm>
          <a:prstGeom prst="line">
            <a:avLst/>
          </a:prstGeom>
          <a:ln w="1016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1520" y="2377440"/>
            <a:ext cx="4023360" cy="0"/>
          </a:xfrm>
          <a:prstGeom prst="line">
            <a:avLst/>
          </a:prstGeom>
          <a:ln w="1016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1520" y="3200400"/>
            <a:ext cx="4023360" cy="0"/>
          </a:xfrm>
          <a:prstGeom prst="line">
            <a:avLst/>
          </a:prstGeom>
          <a:ln w="1016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31520" y="4023360"/>
            <a:ext cx="4023360" cy="0"/>
          </a:xfrm>
          <a:prstGeom prst="line">
            <a:avLst/>
          </a:prstGeom>
          <a:ln w="1016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" y="4846320"/>
            <a:ext cx="4023360" cy="0"/>
          </a:xfrm>
          <a:prstGeom prst="line">
            <a:avLst/>
          </a:prstGeom>
          <a:ln w="1016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1143000"/>
            <a:ext cx="4206240" cy="5120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2103120" y="1828800"/>
            <a:ext cx="1645920" cy="1645920"/>
          </a:xfrm>
          <a:prstGeom prst="hexagon">
            <a:avLst/>
          </a:prstGeom>
          <a:solidFill>
            <a:srgbClr val="121B3F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977639"/>
            <a:ext cx="35661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anrope"/>
              </a:defRPr>
            </a:pPr>
            <a:r>
              <a:t>Glowing shield / cybersecurity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005840"/>
            <a:ext cx="6035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Manrope"/>
              </a:defRPr>
            </a:pPr>
            <a:r>
              <a:t>FinShield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240280"/>
            <a:ext cx="6035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7E2FF"/>
                </a:solidFill>
                <a:latin typeface="Manrope"/>
              </a:defRPr>
            </a:pPr>
            <a:r>
              <a:t>AI-Powered Fraud Prevention - Stopping Fraud Before Money Moves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3611880"/>
            <a:ext cx="6035040" cy="19659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0" y="3840480"/>
            <a:ext cx="56692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FFFFF"/>
                </a:solidFill>
                <a:latin typeface="Manrope"/>
              </a:defRPr>
            </a:pPr>
            <a:r>
              <a:t>Team: Stack Overkill</a:t>
            </a:r>
          </a:p>
          <a:p>
            <a:pPr>
              <a:defRPr sz="1800">
                <a:solidFill>
                  <a:srgbClr val="D7E2FF"/>
                </a:solidFill>
                <a:latin typeface="Manrope"/>
              </a:defRPr>
            </a:pPr>
            <a:r>
              <a:t>Aditya, Chandan, Gaurav, Abhijeet, Stuti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E5FF"/>
                </a:solidFill>
                <a:latin typeface="Manrope"/>
              </a:defRPr>
            </a:pPr>
            <a:r>
              <a:t>FinShield | AI-Powered Fraud Prevention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121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0" y="0"/>
            <a:ext cx="6949440" cy="6858000"/>
          </a:xfrm>
          <a:prstGeom prst="rect">
            <a:avLst/>
          </a:prstGeom>
          <a:solidFill>
            <a:srgbClr val="0B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31520" y="731520"/>
            <a:ext cx="4023360" cy="0"/>
          </a:xfrm>
          <a:prstGeom prst="line">
            <a:avLst/>
          </a:prstGeom>
          <a:ln w="1016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31520" y="1554480"/>
            <a:ext cx="4023360" cy="0"/>
          </a:xfrm>
          <a:prstGeom prst="line">
            <a:avLst/>
          </a:prstGeom>
          <a:ln w="1016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1520" y="2377440"/>
            <a:ext cx="4023360" cy="0"/>
          </a:xfrm>
          <a:prstGeom prst="line">
            <a:avLst/>
          </a:prstGeom>
          <a:ln w="1016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1520" y="3200400"/>
            <a:ext cx="4023360" cy="0"/>
          </a:xfrm>
          <a:prstGeom prst="line">
            <a:avLst/>
          </a:prstGeom>
          <a:ln w="1016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31520" y="4023360"/>
            <a:ext cx="4023360" cy="0"/>
          </a:xfrm>
          <a:prstGeom prst="line">
            <a:avLst/>
          </a:prstGeom>
          <a:ln w="1016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" y="4846320"/>
            <a:ext cx="4023360" cy="0"/>
          </a:xfrm>
          <a:prstGeom prst="line">
            <a:avLst/>
          </a:prstGeom>
          <a:ln w="1016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1143000"/>
            <a:ext cx="4206240" cy="5120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2103120" y="1828800"/>
            <a:ext cx="1645920" cy="1645920"/>
          </a:xfrm>
          <a:prstGeom prst="hexagon">
            <a:avLst/>
          </a:prstGeom>
          <a:solidFill>
            <a:srgbClr val="121B3F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977639"/>
            <a:ext cx="35661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anrope"/>
              </a:defRPr>
            </a:pPr>
            <a:r>
              <a:t>Threat timeline and delayed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50292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FFFF"/>
                </a:solidFill>
                <a:latin typeface="Manrope"/>
              </a:rPr>
              <a:t>The Problem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1143000"/>
            <a:ext cx="2011680" cy="73152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0" y="1417320"/>
            <a:ext cx="6035040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1691640"/>
            <a:ext cx="5577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$10B+ lost to digital fraud globally</a:t>
            </a:r>
          </a:p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Fraud detected after money is already gone</a:t>
            </a:r>
          </a:p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1 in 3 users targeted by phishing and scam messages</a:t>
            </a:r>
          </a:p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Fraud messages manipulate user behavior</a:t>
            </a:r>
          </a:p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Detection delays (24-48 hrs) make recovery nearly impossible</a:t>
            </a:r>
          </a:p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Systems ignore behavior + message connection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5532120"/>
            <a:ext cx="5852160" cy="685800"/>
          </a:xfrm>
          <a:prstGeom prst="roundRect">
            <a:avLst/>
          </a:prstGeom>
          <a:solidFill>
            <a:srgbClr val="FF3CAC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06440" y="5650992"/>
            <a:ext cx="5577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  <a:latin typeface="Manrope"/>
              </a:defRPr>
            </a:pPr>
            <a:r>
              <a:t>Fraud is real-time. Protection is not.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E5FF"/>
                </a:solidFill>
                <a:latin typeface="Manrope"/>
              </a:defRPr>
            </a:pPr>
            <a:r>
              <a:t>FinShield | AI-Powered Fraud Prevention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121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0" y="0"/>
            <a:ext cx="6949440" cy="6858000"/>
          </a:xfrm>
          <a:prstGeom prst="rect">
            <a:avLst/>
          </a:prstGeom>
          <a:solidFill>
            <a:srgbClr val="0B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31520" y="731520"/>
            <a:ext cx="4023360" cy="0"/>
          </a:xfrm>
          <a:prstGeom prst="line">
            <a:avLst/>
          </a:prstGeom>
          <a:ln w="1016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31520" y="1554480"/>
            <a:ext cx="4023360" cy="0"/>
          </a:xfrm>
          <a:prstGeom prst="line">
            <a:avLst/>
          </a:prstGeom>
          <a:ln w="1016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1520" y="2377440"/>
            <a:ext cx="4023360" cy="0"/>
          </a:xfrm>
          <a:prstGeom prst="line">
            <a:avLst/>
          </a:prstGeom>
          <a:ln w="1016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1520" y="3200400"/>
            <a:ext cx="4023360" cy="0"/>
          </a:xfrm>
          <a:prstGeom prst="line">
            <a:avLst/>
          </a:prstGeom>
          <a:ln w="1016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31520" y="4023360"/>
            <a:ext cx="4023360" cy="0"/>
          </a:xfrm>
          <a:prstGeom prst="line">
            <a:avLst/>
          </a:prstGeom>
          <a:ln w="1016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" y="4846320"/>
            <a:ext cx="4023360" cy="0"/>
          </a:xfrm>
          <a:prstGeom prst="line">
            <a:avLst/>
          </a:prstGeom>
          <a:ln w="1016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1143000"/>
            <a:ext cx="4206240" cy="5120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2103120" y="1828800"/>
            <a:ext cx="1645920" cy="1645920"/>
          </a:xfrm>
          <a:prstGeom prst="hexagon">
            <a:avLst/>
          </a:prstGeom>
          <a:solidFill>
            <a:srgbClr val="121B3F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977639"/>
            <a:ext cx="35661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anrope"/>
              </a:defRPr>
            </a:pPr>
            <a:r>
              <a:t>Middleware flow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50292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FFFF"/>
                </a:solidFill>
                <a:latin typeface="Manrope"/>
              </a:rPr>
              <a:t>What is FinShield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1143000"/>
            <a:ext cx="2011680" cy="73152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0" y="1417320"/>
            <a:ext cx="6035040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1691640"/>
            <a:ext cx="5577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Fraud prevention middleware for digital payments</a:t>
            </a:r>
          </a:p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Works between payment apps and banks</a:t>
            </a:r>
          </a:p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Stops risky transactions before money leaves</a:t>
            </a:r>
          </a:p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Provides real-time risk decisions with explanations</a:t>
            </a:r>
          </a:p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Flow: User -&gt; FinShield -&gt; Bank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E5FF"/>
                </a:solidFill>
                <a:latin typeface="Manrope"/>
              </a:defRPr>
            </a:pPr>
            <a:r>
              <a:t>FinShield | AI-Powered Fraud Prevention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121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0" y="0"/>
            <a:ext cx="6949440" cy="6858000"/>
          </a:xfrm>
          <a:prstGeom prst="rect">
            <a:avLst/>
          </a:prstGeom>
          <a:solidFill>
            <a:srgbClr val="0B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31520" y="731520"/>
            <a:ext cx="4023360" cy="0"/>
          </a:xfrm>
          <a:prstGeom prst="line">
            <a:avLst/>
          </a:prstGeom>
          <a:ln w="1016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31520" y="1554480"/>
            <a:ext cx="4023360" cy="0"/>
          </a:xfrm>
          <a:prstGeom prst="line">
            <a:avLst/>
          </a:prstGeom>
          <a:ln w="1016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1520" y="2377440"/>
            <a:ext cx="4023360" cy="0"/>
          </a:xfrm>
          <a:prstGeom prst="line">
            <a:avLst/>
          </a:prstGeom>
          <a:ln w="1016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1520" y="3200400"/>
            <a:ext cx="4023360" cy="0"/>
          </a:xfrm>
          <a:prstGeom prst="line">
            <a:avLst/>
          </a:prstGeom>
          <a:ln w="1016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31520" y="4023360"/>
            <a:ext cx="4023360" cy="0"/>
          </a:xfrm>
          <a:prstGeom prst="line">
            <a:avLst/>
          </a:prstGeom>
          <a:ln w="1016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" y="4846320"/>
            <a:ext cx="4023360" cy="0"/>
          </a:xfrm>
          <a:prstGeom prst="line">
            <a:avLst/>
          </a:prstGeom>
          <a:ln w="1016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1143000"/>
            <a:ext cx="4206240" cy="5120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2103120" y="1828800"/>
            <a:ext cx="1645920" cy="1645920"/>
          </a:xfrm>
          <a:prstGeom prst="hexagon">
            <a:avLst/>
          </a:prstGeom>
          <a:solidFill>
            <a:srgbClr val="121B3F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977639"/>
            <a:ext cx="35661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anrope"/>
              </a:defRPr>
            </a:pPr>
            <a:r>
              <a:t>Before/After middleware advantage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50292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FFFF"/>
                </a:solidFill>
                <a:latin typeface="Manrope"/>
              </a:rPr>
              <a:t>How It Fits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1143000"/>
            <a:ext cx="2011680" cy="73152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0" y="1417320"/>
            <a:ext cx="6035040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1691640"/>
            <a:ext cx="5577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Before: Fraud detected after transaction</a:t>
            </a:r>
          </a:p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After: FinShield intercepts transactions before processing</a:t>
            </a:r>
          </a:p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No change in user behavior</a:t>
            </a:r>
          </a:p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Easy API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E5FF"/>
                </a:solidFill>
                <a:latin typeface="Manrope"/>
              </a:defRPr>
            </a:pPr>
            <a:r>
              <a:t>FinShield | AI-Powered Fraud Prevention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121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0" y="0"/>
            <a:ext cx="6949440" cy="6858000"/>
          </a:xfrm>
          <a:prstGeom prst="rect">
            <a:avLst/>
          </a:prstGeom>
          <a:solidFill>
            <a:srgbClr val="0B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31520" y="731520"/>
            <a:ext cx="4023360" cy="0"/>
          </a:xfrm>
          <a:prstGeom prst="line">
            <a:avLst/>
          </a:prstGeom>
          <a:ln w="1016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31520" y="1554480"/>
            <a:ext cx="4023360" cy="0"/>
          </a:xfrm>
          <a:prstGeom prst="line">
            <a:avLst/>
          </a:prstGeom>
          <a:ln w="1016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1520" y="2377440"/>
            <a:ext cx="4023360" cy="0"/>
          </a:xfrm>
          <a:prstGeom prst="line">
            <a:avLst/>
          </a:prstGeom>
          <a:ln w="1016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1520" y="3200400"/>
            <a:ext cx="4023360" cy="0"/>
          </a:xfrm>
          <a:prstGeom prst="line">
            <a:avLst/>
          </a:prstGeom>
          <a:ln w="1016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31520" y="4023360"/>
            <a:ext cx="4023360" cy="0"/>
          </a:xfrm>
          <a:prstGeom prst="line">
            <a:avLst/>
          </a:prstGeom>
          <a:ln w="1016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" y="4846320"/>
            <a:ext cx="4023360" cy="0"/>
          </a:xfrm>
          <a:prstGeom prst="line">
            <a:avLst/>
          </a:prstGeom>
          <a:ln w="1016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1143000"/>
            <a:ext cx="4206240" cy="5120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2103120" y="1828800"/>
            <a:ext cx="1645920" cy="1645920"/>
          </a:xfrm>
          <a:prstGeom prst="hexagon">
            <a:avLst/>
          </a:prstGeom>
          <a:solidFill>
            <a:srgbClr val="121B3F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977639"/>
            <a:ext cx="35661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anrope"/>
              </a:defRPr>
            </a:pPr>
            <a:r>
              <a:t>Risk meter and scoring bands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50292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FFFF"/>
                </a:solidFill>
                <a:latin typeface="Manrope"/>
              </a:rPr>
              <a:t>Transaction Risk Engine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1143000"/>
            <a:ext cx="2011680" cy="73152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0" y="1417320"/>
            <a:ext cx="6035040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1691640"/>
            <a:ext cx="5577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Multi-factor rule-based risk scoring</a:t>
            </a:r>
          </a:p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Detects amount spikes, new device, geo mismatch, unusual patterns</a:t>
            </a:r>
          </a:p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Real-time evaluation in milliseconds</a:t>
            </a:r>
          </a:p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0-34 -&gt; Approve</a:t>
            </a:r>
          </a:p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35-69 -&gt; Review</a:t>
            </a:r>
          </a:p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70+ -&gt; Block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E5FF"/>
                </a:solidFill>
                <a:latin typeface="Manrope"/>
              </a:defRPr>
            </a:pPr>
            <a:r>
              <a:t>FinShield | AI-Powered Fraud Prevention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121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0" y="0"/>
            <a:ext cx="6949440" cy="6858000"/>
          </a:xfrm>
          <a:prstGeom prst="rect">
            <a:avLst/>
          </a:prstGeom>
          <a:solidFill>
            <a:srgbClr val="0B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31520" y="731520"/>
            <a:ext cx="4023360" cy="0"/>
          </a:xfrm>
          <a:prstGeom prst="line">
            <a:avLst/>
          </a:prstGeom>
          <a:ln w="1016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31520" y="1554480"/>
            <a:ext cx="4023360" cy="0"/>
          </a:xfrm>
          <a:prstGeom prst="line">
            <a:avLst/>
          </a:prstGeom>
          <a:ln w="1016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1520" y="2377440"/>
            <a:ext cx="4023360" cy="0"/>
          </a:xfrm>
          <a:prstGeom prst="line">
            <a:avLst/>
          </a:prstGeom>
          <a:ln w="1016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1520" y="3200400"/>
            <a:ext cx="4023360" cy="0"/>
          </a:xfrm>
          <a:prstGeom prst="line">
            <a:avLst/>
          </a:prstGeom>
          <a:ln w="1016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31520" y="4023360"/>
            <a:ext cx="4023360" cy="0"/>
          </a:xfrm>
          <a:prstGeom prst="line">
            <a:avLst/>
          </a:prstGeom>
          <a:ln w="1016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" y="4846320"/>
            <a:ext cx="4023360" cy="0"/>
          </a:xfrm>
          <a:prstGeom prst="line">
            <a:avLst/>
          </a:prstGeom>
          <a:ln w="1016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1143000"/>
            <a:ext cx="4206240" cy="5120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2103120" y="1828800"/>
            <a:ext cx="1645920" cy="1645920"/>
          </a:xfrm>
          <a:prstGeom prst="hexagon">
            <a:avLst/>
          </a:prstGeom>
          <a:solidFill>
            <a:srgbClr val="121B3F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977639"/>
            <a:ext cx="35661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anrope"/>
              </a:defRPr>
            </a:pPr>
            <a:r>
              <a:t>Scam text analysis and 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50292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FFFF"/>
                </a:solidFill>
                <a:latin typeface="Manrope"/>
              </a:rPr>
              <a:t>Fraud Message Detection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1143000"/>
            <a:ext cx="2011680" cy="73152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0" y="1417320"/>
            <a:ext cx="6035040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1691640"/>
            <a:ext cx="5577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Detects phishing and scam messages</a:t>
            </a:r>
          </a:p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Identifies suspicious links and urgency patterns</a:t>
            </a:r>
          </a:p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AI-powered classification: Safe / Suspicious / Fraud</a:t>
            </a:r>
          </a:p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Stops scams before users 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E5FF"/>
                </a:solidFill>
                <a:latin typeface="Manrope"/>
              </a:defRPr>
            </a:pPr>
            <a:r>
              <a:t>FinShield | AI-Powered Fraud Prevention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121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0" y="0"/>
            <a:ext cx="6949440" cy="6858000"/>
          </a:xfrm>
          <a:prstGeom prst="rect">
            <a:avLst/>
          </a:prstGeom>
          <a:solidFill>
            <a:srgbClr val="0B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31520" y="731520"/>
            <a:ext cx="4023360" cy="0"/>
          </a:xfrm>
          <a:prstGeom prst="line">
            <a:avLst/>
          </a:prstGeom>
          <a:ln w="1016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31520" y="1554480"/>
            <a:ext cx="4023360" cy="0"/>
          </a:xfrm>
          <a:prstGeom prst="line">
            <a:avLst/>
          </a:prstGeom>
          <a:ln w="1016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1520" y="2377440"/>
            <a:ext cx="4023360" cy="0"/>
          </a:xfrm>
          <a:prstGeom prst="line">
            <a:avLst/>
          </a:prstGeom>
          <a:ln w="1016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1520" y="3200400"/>
            <a:ext cx="4023360" cy="0"/>
          </a:xfrm>
          <a:prstGeom prst="line">
            <a:avLst/>
          </a:prstGeom>
          <a:ln w="1016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31520" y="4023360"/>
            <a:ext cx="4023360" cy="0"/>
          </a:xfrm>
          <a:prstGeom prst="line">
            <a:avLst/>
          </a:prstGeom>
          <a:ln w="1016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" y="4846320"/>
            <a:ext cx="4023360" cy="0"/>
          </a:xfrm>
          <a:prstGeom prst="line">
            <a:avLst/>
          </a:prstGeom>
          <a:ln w="1016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1143000"/>
            <a:ext cx="4206240" cy="5120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2103120" y="1828800"/>
            <a:ext cx="1645920" cy="1645920"/>
          </a:xfrm>
          <a:prstGeom prst="hexagon">
            <a:avLst/>
          </a:prstGeom>
          <a:solidFill>
            <a:srgbClr val="121B3F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977639"/>
            <a:ext cx="35661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anrope"/>
              </a:defRPr>
            </a:pPr>
            <a:r>
              <a:t>Reason tags and confidence outputs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50292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FFFF"/>
                </a:solidFill>
                <a:latin typeface="Manrope"/>
              </a:rPr>
              <a:t>Explainable Decisions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1143000"/>
            <a:ext cx="2011680" cy="73152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0" y="1417320"/>
            <a:ext cx="6035040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1691640"/>
            <a:ext cx="5577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Every decision includes clear reasoning</a:t>
            </a:r>
          </a:p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Users understand why a transaction is flagged</a:t>
            </a:r>
          </a:p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Improves trust and reduces confusion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5532120"/>
            <a:ext cx="5852160" cy="685800"/>
          </a:xfrm>
          <a:prstGeom prst="roundRect">
            <a:avLst/>
          </a:prstGeom>
          <a:solidFill>
            <a:srgbClr val="FF3CAC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06440" y="5650992"/>
            <a:ext cx="5577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  <a:latin typeface="Manrope"/>
              </a:defRPr>
            </a:pPr>
            <a:r>
              <a:t>Security with clarity, not confusion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E5FF"/>
                </a:solidFill>
                <a:latin typeface="Manrope"/>
              </a:defRPr>
            </a:pPr>
            <a:r>
              <a:t>FinShield | AI-Powered Fraud Prevention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121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0" y="0"/>
            <a:ext cx="6949440" cy="6858000"/>
          </a:xfrm>
          <a:prstGeom prst="rect">
            <a:avLst/>
          </a:prstGeom>
          <a:solidFill>
            <a:srgbClr val="0B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31520" y="731520"/>
            <a:ext cx="4023360" cy="0"/>
          </a:xfrm>
          <a:prstGeom prst="line">
            <a:avLst/>
          </a:prstGeom>
          <a:ln w="1016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31520" y="1554480"/>
            <a:ext cx="4023360" cy="0"/>
          </a:xfrm>
          <a:prstGeom prst="line">
            <a:avLst/>
          </a:prstGeom>
          <a:ln w="1016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1520" y="2377440"/>
            <a:ext cx="4023360" cy="0"/>
          </a:xfrm>
          <a:prstGeom prst="line">
            <a:avLst/>
          </a:prstGeom>
          <a:ln w="1016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1520" y="3200400"/>
            <a:ext cx="4023360" cy="0"/>
          </a:xfrm>
          <a:prstGeom prst="line">
            <a:avLst/>
          </a:prstGeom>
          <a:ln w="1016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31520" y="4023360"/>
            <a:ext cx="4023360" cy="0"/>
          </a:xfrm>
          <a:prstGeom prst="line">
            <a:avLst/>
          </a:prstGeom>
          <a:ln w="1016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" y="4846320"/>
            <a:ext cx="4023360" cy="0"/>
          </a:xfrm>
          <a:prstGeom prst="line">
            <a:avLst/>
          </a:prstGeom>
          <a:ln w="1016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1143000"/>
            <a:ext cx="4206240" cy="5120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2103120" y="1828800"/>
            <a:ext cx="1645920" cy="1645920"/>
          </a:xfrm>
          <a:prstGeom prst="hexagon">
            <a:avLst/>
          </a:prstGeom>
          <a:solidFill>
            <a:srgbClr val="121B3F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977639"/>
            <a:ext cx="35661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anrope"/>
              </a:defRPr>
            </a:pPr>
            <a:r>
              <a:t>End-to-end prevention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50292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FFFF"/>
                </a:solidFill>
                <a:latin typeface="Manrope"/>
              </a:rPr>
              <a:t>System 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1143000"/>
            <a:ext cx="2011680" cy="73152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0" y="1417320"/>
            <a:ext cx="6035040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1691640"/>
            <a:ext cx="5577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Flow: User -&gt; Analyze -&gt; Risk Score -&gt; Decision -&gt; Alert -&gt; Log</a:t>
            </a:r>
          </a:p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Real-time decision making</a:t>
            </a:r>
          </a:p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Latency under 1.5 seconds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E5FF"/>
                </a:solidFill>
                <a:latin typeface="Manrope"/>
              </a:defRPr>
            </a:pPr>
            <a:r>
              <a:t>FinShield | AI-Powered Fraud Prevention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121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0" y="0"/>
            <a:ext cx="6949440" cy="6858000"/>
          </a:xfrm>
          <a:prstGeom prst="rect">
            <a:avLst/>
          </a:prstGeom>
          <a:solidFill>
            <a:srgbClr val="0B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31520" y="731520"/>
            <a:ext cx="4023360" cy="0"/>
          </a:xfrm>
          <a:prstGeom prst="line">
            <a:avLst/>
          </a:prstGeom>
          <a:ln w="1016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31520" y="1554480"/>
            <a:ext cx="4023360" cy="0"/>
          </a:xfrm>
          <a:prstGeom prst="line">
            <a:avLst/>
          </a:prstGeom>
          <a:ln w="1016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1520" y="2377440"/>
            <a:ext cx="4023360" cy="0"/>
          </a:xfrm>
          <a:prstGeom prst="line">
            <a:avLst/>
          </a:prstGeom>
          <a:ln w="1016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1520" y="3200400"/>
            <a:ext cx="4023360" cy="0"/>
          </a:xfrm>
          <a:prstGeom prst="line">
            <a:avLst/>
          </a:prstGeom>
          <a:ln w="1016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31520" y="4023360"/>
            <a:ext cx="4023360" cy="0"/>
          </a:xfrm>
          <a:prstGeom prst="line">
            <a:avLst/>
          </a:prstGeom>
          <a:ln w="1016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" y="4846320"/>
            <a:ext cx="4023360" cy="0"/>
          </a:xfrm>
          <a:prstGeom prst="line">
            <a:avLst/>
          </a:prstGeom>
          <a:ln w="1016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1143000"/>
            <a:ext cx="4206240" cy="5120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2103120" y="1828800"/>
            <a:ext cx="1645920" cy="1645920"/>
          </a:xfrm>
          <a:prstGeom prst="hexagon">
            <a:avLst/>
          </a:prstGeom>
          <a:solidFill>
            <a:srgbClr val="121B3F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977639"/>
            <a:ext cx="35661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anrope"/>
              </a:defRPr>
            </a:pPr>
            <a:r>
              <a:t>Live safe/review scenario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50292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FFFF"/>
                </a:solidFill>
                <a:latin typeface="Manrope"/>
              </a:rPr>
              <a:t>Demo 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1143000"/>
            <a:ext cx="2011680" cy="73152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0" y="1417320"/>
            <a:ext cx="6035040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1691640"/>
            <a:ext cx="5577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Normal transaction -&gt; Low Risk -&gt; Approved</a:t>
            </a:r>
          </a:p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Suspicious transaction -&gt; Medium Risk -&gt; Review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5532120"/>
            <a:ext cx="5852160" cy="685800"/>
          </a:xfrm>
          <a:prstGeom prst="roundRect">
            <a:avLst/>
          </a:prstGeom>
          <a:solidFill>
            <a:srgbClr val="FF3CAC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06440" y="5650992"/>
            <a:ext cx="5577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  <a:latin typeface="Manrope"/>
              </a:defRPr>
            </a:pPr>
            <a:r>
              <a:t>Balanced security and user experience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E5FF"/>
                </a:solidFill>
                <a:latin typeface="Manrope"/>
              </a:defRPr>
            </a:pPr>
            <a:r>
              <a:t>FinShield | AI-Powered Fraud Prevention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121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0" y="0"/>
            <a:ext cx="6949440" cy="6858000"/>
          </a:xfrm>
          <a:prstGeom prst="rect">
            <a:avLst/>
          </a:prstGeom>
          <a:solidFill>
            <a:srgbClr val="0B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31520" y="731520"/>
            <a:ext cx="4023360" cy="0"/>
          </a:xfrm>
          <a:prstGeom prst="line">
            <a:avLst/>
          </a:prstGeom>
          <a:ln w="1016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31520" y="1554480"/>
            <a:ext cx="4023360" cy="0"/>
          </a:xfrm>
          <a:prstGeom prst="line">
            <a:avLst/>
          </a:prstGeom>
          <a:ln w="1016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1520" y="2377440"/>
            <a:ext cx="4023360" cy="0"/>
          </a:xfrm>
          <a:prstGeom prst="line">
            <a:avLst/>
          </a:prstGeom>
          <a:ln w="1016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1520" y="3200400"/>
            <a:ext cx="4023360" cy="0"/>
          </a:xfrm>
          <a:prstGeom prst="line">
            <a:avLst/>
          </a:prstGeom>
          <a:ln w="1016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31520" y="4023360"/>
            <a:ext cx="4023360" cy="0"/>
          </a:xfrm>
          <a:prstGeom prst="line">
            <a:avLst/>
          </a:prstGeom>
          <a:ln w="1016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" y="4846320"/>
            <a:ext cx="4023360" cy="0"/>
          </a:xfrm>
          <a:prstGeom prst="line">
            <a:avLst/>
          </a:prstGeom>
          <a:ln w="1016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1143000"/>
            <a:ext cx="4206240" cy="5120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2103120" y="1828800"/>
            <a:ext cx="1645920" cy="1645920"/>
          </a:xfrm>
          <a:prstGeom prst="hexagon">
            <a:avLst/>
          </a:prstGeom>
          <a:solidFill>
            <a:srgbClr val="121B3F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977639"/>
            <a:ext cx="35661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anrope"/>
              </a:defRPr>
            </a:pPr>
            <a:r>
              <a:t>Block + message prevention proof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50292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FFFF"/>
                </a:solidFill>
                <a:latin typeface="Manrope"/>
              </a:rPr>
              <a:t>Fraud Prevention in 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1143000"/>
            <a:ext cx="2011680" cy="73152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0" y="1417320"/>
            <a:ext cx="6035040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1691640"/>
            <a:ext cx="5577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High-risk transaction -&gt; Blocked instantly</a:t>
            </a:r>
          </a:p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Fraud message -&gt; Detected before user interaction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5532120"/>
            <a:ext cx="5852160" cy="685800"/>
          </a:xfrm>
          <a:prstGeom prst="roundRect">
            <a:avLst/>
          </a:prstGeom>
          <a:solidFill>
            <a:srgbClr val="FF3CAC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06440" y="5650992"/>
            <a:ext cx="5577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  <a:latin typeface="Manrope"/>
              </a:defRPr>
            </a:pPr>
            <a:r>
              <a:t>Prevention, not reaction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E5FF"/>
                </a:solidFill>
                <a:latin typeface="Manrope"/>
              </a:defRPr>
            </a:pPr>
            <a:r>
              <a:t>FinShield | AI-Powered Fraud Prevention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121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0" y="0"/>
            <a:ext cx="6949440" cy="6858000"/>
          </a:xfrm>
          <a:prstGeom prst="rect">
            <a:avLst/>
          </a:prstGeom>
          <a:solidFill>
            <a:srgbClr val="0B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31520" y="731520"/>
            <a:ext cx="4023360" cy="0"/>
          </a:xfrm>
          <a:prstGeom prst="line">
            <a:avLst/>
          </a:prstGeom>
          <a:ln w="1016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31520" y="1554480"/>
            <a:ext cx="4023360" cy="0"/>
          </a:xfrm>
          <a:prstGeom prst="line">
            <a:avLst/>
          </a:prstGeom>
          <a:ln w="1016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1520" y="2377440"/>
            <a:ext cx="4023360" cy="0"/>
          </a:xfrm>
          <a:prstGeom prst="line">
            <a:avLst/>
          </a:prstGeom>
          <a:ln w="1016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1520" y="3200400"/>
            <a:ext cx="4023360" cy="0"/>
          </a:xfrm>
          <a:prstGeom prst="line">
            <a:avLst/>
          </a:prstGeom>
          <a:ln w="1016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31520" y="4023360"/>
            <a:ext cx="4023360" cy="0"/>
          </a:xfrm>
          <a:prstGeom prst="line">
            <a:avLst/>
          </a:prstGeom>
          <a:ln w="1016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" y="4846320"/>
            <a:ext cx="4023360" cy="0"/>
          </a:xfrm>
          <a:prstGeom prst="line">
            <a:avLst/>
          </a:prstGeom>
          <a:ln w="1016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1143000"/>
            <a:ext cx="4206240" cy="5120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2103120" y="1828800"/>
            <a:ext cx="1645920" cy="1645920"/>
          </a:xfrm>
          <a:prstGeom prst="hexagon">
            <a:avLst/>
          </a:prstGeom>
          <a:solidFill>
            <a:srgbClr val="121B3F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977639"/>
            <a:ext cx="35661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anrope"/>
              </a:defRPr>
            </a:pPr>
            <a:r>
              <a:t>KPI dashboard and impact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50292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FFFF"/>
                </a:solidFill>
                <a:latin typeface="Manrope"/>
              </a:rPr>
              <a:t>Performance &amp; Impact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1143000"/>
            <a:ext cx="2011680" cy="73152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0" y="1417320"/>
            <a:ext cx="6035040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1691640"/>
            <a:ext cx="5577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Decision time &lt;1.5 seconds</a:t>
            </a:r>
          </a:p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95%+ fraud detection accuracy</a:t>
            </a:r>
          </a:p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Low false positives</a:t>
            </a:r>
          </a:p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Real-time alerts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E5FF"/>
                </a:solidFill>
                <a:latin typeface="Manrope"/>
              </a:defRPr>
            </a:pPr>
            <a:r>
              <a:t>FinShield | AI-Powered Fraud Prevention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121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0" y="0"/>
            <a:ext cx="6949440" cy="6858000"/>
          </a:xfrm>
          <a:prstGeom prst="rect">
            <a:avLst/>
          </a:prstGeom>
          <a:solidFill>
            <a:srgbClr val="0B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31520" y="731520"/>
            <a:ext cx="4023360" cy="0"/>
          </a:xfrm>
          <a:prstGeom prst="line">
            <a:avLst/>
          </a:prstGeom>
          <a:ln w="1016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31520" y="1554480"/>
            <a:ext cx="4023360" cy="0"/>
          </a:xfrm>
          <a:prstGeom prst="line">
            <a:avLst/>
          </a:prstGeom>
          <a:ln w="1016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1520" y="2377440"/>
            <a:ext cx="4023360" cy="0"/>
          </a:xfrm>
          <a:prstGeom prst="line">
            <a:avLst/>
          </a:prstGeom>
          <a:ln w="1016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1520" y="3200400"/>
            <a:ext cx="4023360" cy="0"/>
          </a:xfrm>
          <a:prstGeom prst="line">
            <a:avLst/>
          </a:prstGeom>
          <a:ln w="1016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31520" y="4023360"/>
            <a:ext cx="4023360" cy="0"/>
          </a:xfrm>
          <a:prstGeom prst="line">
            <a:avLst/>
          </a:prstGeom>
          <a:ln w="1016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" y="4846320"/>
            <a:ext cx="4023360" cy="0"/>
          </a:xfrm>
          <a:prstGeom prst="line">
            <a:avLst/>
          </a:prstGeom>
          <a:ln w="1016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1143000"/>
            <a:ext cx="4206240" cy="5120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2103120" y="1828800"/>
            <a:ext cx="1645920" cy="1645920"/>
          </a:xfrm>
          <a:prstGeom prst="hexagon">
            <a:avLst/>
          </a:prstGeom>
          <a:solidFill>
            <a:srgbClr val="121B3F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977639"/>
            <a:ext cx="35661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anrope"/>
              </a:defRPr>
            </a:pPr>
            <a:r>
              <a:t>Final protection 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50292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FFFF"/>
                </a:solidFill>
                <a:latin typeface="Manrope"/>
              </a:rPr>
              <a:t>Why FinShield Wins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1143000"/>
            <a:ext cx="2011680" cy="73152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0" y="1417320"/>
            <a:ext cx="6035040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1691640"/>
            <a:ext cx="5577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Real-time fraud prevention</a:t>
            </a:r>
          </a:p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Middleware integration ready</a:t>
            </a:r>
          </a:p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In-house fraud detection model</a:t>
            </a:r>
          </a:p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Explainable decisions</a:t>
            </a:r>
          </a:p>
          <a:p>
            <a:pPr>
              <a:spcAft>
                <a:spcPts val="1000"/>
              </a:spcAft>
              <a:defRPr sz="1900">
                <a:solidFill>
                  <a:srgbClr val="D7E2FF"/>
                </a:solidFill>
                <a:latin typeface="Manrope"/>
              </a:defRPr>
            </a:pPr>
            <a:r>
              <a:t>FinShield is becoming the default fraud layer for digital payments.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E5FF"/>
                </a:solidFill>
                <a:latin typeface="Manrope"/>
              </a:defRPr>
            </a:pPr>
            <a:r>
              <a:t>FinShield | AI-Powered Fraud Prevention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